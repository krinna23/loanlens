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64" r:id="rId2"/>
    <p:sldId id="257" r:id="rId3"/>
    <p:sldId id="269" r:id="rId4"/>
    <p:sldId id="268" r:id="rId5"/>
    <p:sldId id="260" r:id="rId6"/>
    <p:sldId id="265" r:id="rId7"/>
    <p:sldId id="262" r:id="rId8"/>
    <p:sldId id="267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C39A"/>
    <a:srgbClr val="028090"/>
    <a:srgbClr val="F7F9FB"/>
    <a:srgbClr val="FFFFFF"/>
    <a:srgbClr val="0C2E38"/>
    <a:srgbClr val="04202C"/>
    <a:srgbClr val="F6FAF9"/>
    <a:srgbClr val="E2EAE7"/>
    <a:srgbClr val="DAE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7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08FF18-654A-5497-AD87-5C1C88E67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5A9EB4-1388-6312-C360-1C25A58E3700}"/>
              </a:ext>
            </a:extLst>
          </p:cNvPr>
          <p:cNvSpPr txBox="1"/>
          <p:nvPr/>
        </p:nvSpPr>
        <p:spPr>
          <a:xfrm>
            <a:off x="3239" y="4827639"/>
            <a:ext cx="4539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 1: Anandpara Krinna-202302626010006</a:t>
            </a:r>
          </a:p>
          <a:p>
            <a:r>
              <a:rPr lang="en-US" dirty="0"/>
              <a:t>Name2: Doshi Arya- 202302626010019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1301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 • 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B2B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Loan agreements are legally dense —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B2B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and borrowers sign them blind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101600" dist="38100" dir="5400000" algn="bl" rotWithShape="0">
              <a:srgbClr val="1B3A3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566928" cy="566928"/>
          </a:xfrm>
          <a:prstGeom prst="ellipse">
            <a:avLst/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610" dirty="0"/>
          </a:p>
        </p:txBody>
      </p:sp>
      <p:sp>
        <p:nvSpPr>
          <p:cNvPr id="7" name="Text 5"/>
          <p:cNvSpPr/>
          <p:nvPr/>
        </p:nvSpPr>
        <p:spPr>
          <a:xfrm>
            <a:off x="1554480" y="2587752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Dense legal language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54480" y="2953512"/>
            <a:ext cx="41148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Clauses on interest reset, penal charges, and foreclosure are written for lawyers, not borrowers.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23317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101600" dist="38100" dir="5400000" algn="bl" rotWithShape="0">
              <a:srgbClr val="1B3A3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37960" y="2606040"/>
            <a:ext cx="566928" cy="566928"/>
          </a:xfrm>
          <a:prstGeom prst="ellipse">
            <a:avLst/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37960" y="260604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?</a:t>
            </a:r>
            <a:endParaRPr lang="en-US" sz="1610" dirty="0"/>
          </a:p>
        </p:txBody>
      </p:sp>
      <p:sp>
        <p:nvSpPr>
          <p:cNvPr id="12" name="Text 10"/>
          <p:cNvSpPr/>
          <p:nvPr/>
        </p:nvSpPr>
        <p:spPr>
          <a:xfrm>
            <a:off x="7269480" y="2587752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easy way to check compliance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269480" y="2953512"/>
            <a:ext cx="41148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Borrowers can't tell whether a clause actually matches current RBI rules — or a rule that's since been withdrawn.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101600" dist="38100" dir="5400000" algn="bl" rotWithShape="0">
              <a:srgbClr val="1B3A3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" y="4709160"/>
            <a:ext cx="566928" cy="566928"/>
          </a:xfrm>
          <a:prstGeom prst="ellipse">
            <a:avLst/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470916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⇄</a:t>
            </a:r>
            <a:endParaRPr lang="en-US" sz="1610" dirty="0"/>
          </a:p>
        </p:txBody>
      </p:sp>
      <p:sp>
        <p:nvSpPr>
          <p:cNvPr id="17" name="Text 15"/>
          <p:cNvSpPr/>
          <p:nvPr/>
        </p:nvSpPr>
        <p:spPr>
          <a:xfrm>
            <a:off x="1554480" y="4690872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 to compare offers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54480" y="5056632"/>
            <a:ext cx="41148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Comparing two loan offers means manually cross-reading two long PDFs, clause by clause.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101600" dist="38100" dir="5400000" algn="bl" rotWithShape="0">
              <a:srgbClr val="1B3A3F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37960" y="4709160"/>
            <a:ext cx="566928" cy="566928"/>
          </a:xfrm>
          <a:prstGeom prst="ellipse">
            <a:avLst/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537960" y="470916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</a:t>
            </a:r>
            <a:endParaRPr lang="en-US" sz="1610" dirty="0"/>
          </a:p>
        </p:txBody>
      </p:sp>
      <p:sp>
        <p:nvSpPr>
          <p:cNvPr id="22" name="Text 20"/>
          <p:cNvSpPr/>
          <p:nvPr/>
        </p:nvSpPr>
        <p:spPr>
          <a:xfrm>
            <a:off x="7269480" y="4690872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hides in the fine print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269480" y="5056632"/>
            <a:ext cx="41148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Costly clauses (penal interest, reset frequency, prepayment charges) are easy to miss until it's too late.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8CD7893-593C-B3B0-B815-A641327F8DE0}"/>
              </a:ext>
            </a:extLst>
          </p:cNvPr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The Solutions</a:t>
            </a:r>
            <a:endParaRPr lang="en-US" sz="13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711CDAE-B9F4-F1D0-AD0F-67267C3FB60B}"/>
              </a:ext>
            </a:extLst>
          </p:cNvPr>
          <p:cNvSpPr/>
          <p:nvPr/>
        </p:nvSpPr>
        <p:spPr>
          <a:xfrm>
            <a:off x="548640" y="7772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LoanLens — final core features</a:t>
            </a:r>
            <a:endParaRPr lang="en-US" sz="27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5B3149D-E1E5-C505-9F30-528D4C0E9538}"/>
              </a:ext>
            </a:extLst>
          </p:cNvPr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chatbot — a smart, explorable version of the agreement: summarized, explained clause by clause, compared, costed, and turned into a prepayment decision engine.</a:t>
            </a:r>
            <a:endParaRPr lang="en-US" sz="125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8600F7EC-FBA0-C75A-CCE2-84E2B0F12762}"/>
              </a:ext>
            </a:extLst>
          </p:cNvPr>
          <p:cNvSpPr/>
          <p:nvPr/>
        </p:nvSpPr>
        <p:spPr>
          <a:xfrm>
            <a:off x="548640" y="2084832"/>
            <a:ext cx="2633472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63500" dist="25400" dir="5400000" algn="bl" rotWithShape="0">
              <a:srgbClr val="1B3A3F">
                <a:alpha val="9000"/>
              </a:srgbClr>
            </a:outerShdw>
          </a:effectLst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3B662BF6-5BD4-AA64-8183-227497DF3D05}"/>
              </a:ext>
            </a:extLst>
          </p:cNvPr>
          <p:cNvSpPr/>
          <p:nvPr/>
        </p:nvSpPr>
        <p:spPr>
          <a:xfrm>
            <a:off x="731520" y="226771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5021A0B1-D517-AE99-9F88-468CF0104467}"/>
              </a:ext>
            </a:extLst>
          </p:cNvPr>
          <p:cNvSpPr/>
          <p:nvPr/>
        </p:nvSpPr>
        <p:spPr>
          <a:xfrm>
            <a:off x="731520" y="2267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144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8AE901C9-B8CF-11E2-C770-36CB38D3E073}"/>
              </a:ext>
            </a:extLst>
          </p:cNvPr>
          <p:cNvSpPr/>
          <p:nvPr/>
        </p:nvSpPr>
        <p:spPr>
          <a:xfrm>
            <a:off x="731520" y="277063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Loan Summary</a:t>
            </a:r>
            <a:endParaRPr lang="en-US" sz="12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851D631F-1F90-E943-CD5B-72AD6A6CB867}"/>
              </a:ext>
            </a:extLst>
          </p:cNvPr>
          <p:cNvSpPr/>
          <p:nvPr/>
        </p:nvSpPr>
        <p:spPr>
          <a:xfrm>
            <a:off x="731520" y="3255264"/>
            <a:ext cx="22677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 figure — EMI, fees, insurance, foreclosure — extracted the moment you upload.</a:t>
            </a:r>
            <a:endParaRPr lang="en-US" sz="93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2064815E-16FF-9793-B6AB-C6262A3CD2A6}"/>
              </a:ext>
            </a:extLst>
          </p:cNvPr>
          <p:cNvSpPr/>
          <p:nvPr/>
        </p:nvSpPr>
        <p:spPr>
          <a:xfrm>
            <a:off x="3364992" y="2084832"/>
            <a:ext cx="2633472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63500" dist="25400" dir="5400000" algn="bl" rotWithShape="0">
              <a:srgbClr val="1B3A3F">
                <a:alpha val="9000"/>
              </a:srgbClr>
            </a:outerShdw>
          </a:effectLst>
        </p:spPr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1DD936D9-6393-276A-B33C-89956AFD25BA}"/>
              </a:ext>
            </a:extLst>
          </p:cNvPr>
          <p:cNvSpPr/>
          <p:nvPr/>
        </p:nvSpPr>
        <p:spPr>
          <a:xfrm>
            <a:off x="3547872" y="226771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9B11A3CF-4336-0F05-14C6-A84C647B6AFD}"/>
              </a:ext>
            </a:extLst>
          </p:cNvPr>
          <p:cNvSpPr/>
          <p:nvPr/>
        </p:nvSpPr>
        <p:spPr>
          <a:xfrm>
            <a:off x="3547872" y="2267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¶</a:t>
            </a:r>
            <a:endParaRPr lang="en-US" sz="1144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1344E020-7CAB-740D-DB0B-C765D845A021}"/>
              </a:ext>
            </a:extLst>
          </p:cNvPr>
          <p:cNvSpPr/>
          <p:nvPr/>
        </p:nvSpPr>
        <p:spPr>
          <a:xfrm>
            <a:off x="3547872" y="277063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Clause-by-Clause Explain</a:t>
            </a:r>
            <a:endParaRPr lang="en-US" sz="12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A398DCD0-2717-6287-0991-02A3E847113D}"/>
              </a:ext>
            </a:extLst>
          </p:cNvPr>
          <p:cNvSpPr/>
          <p:nvPr/>
        </p:nvSpPr>
        <p:spPr>
          <a:xfrm>
            <a:off x="3547872" y="3255264"/>
            <a:ext cx="22677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clause explained in plain language, with financial impact, RBI source, and risk level.</a:t>
            </a:r>
            <a:endParaRPr lang="en-US" sz="93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DA0F03DE-19ED-FA48-8D7B-48722B83CD97}"/>
              </a:ext>
            </a:extLst>
          </p:cNvPr>
          <p:cNvSpPr/>
          <p:nvPr/>
        </p:nvSpPr>
        <p:spPr>
          <a:xfrm>
            <a:off x="6181344" y="2084832"/>
            <a:ext cx="2633472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63500" dist="25400" dir="5400000" algn="bl" rotWithShape="0">
              <a:srgbClr val="1B3A3F">
                <a:alpha val="9000"/>
              </a:srgbClr>
            </a:outerShdw>
          </a:effectLst>
        </p:spPr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EFE5C772-64E3-DC3B-B278-AF6BE4EBC0A0}"/>
              </a:ext>
            </a:extLst>
          </p:cNvPr>
          <p:cNvSpPr/>
          <p:nvPr/>
        </p:nvSpPr>
        <p:spPr>
          <a:xfrm>
            <a:off x="6364224" y="2267712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5C4CACA1-88E0-0386-CE3B-BAE11D9135E3}"/>
              </a:ext>
            </a:extLst>
          </p:cNvPr>
          <p:cNvSpPr/>
          <p:nvPr/>
        </p:nvSpPr>
        <p:spPr>
          <a:xfrm>
            <a:off x="6364224" y="2267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44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479DEA83-41CF-5679-8C61-90E31F53A140}"/>
              </a:ext>
            </a:extLst>
          </p:cNvPr>
          <p:cNvSpPr/>
          <p:nvPr/>
        </p:nvSpPr>
        <p:spPr>
          <a:xfrm>
            <a:off x="6364224" y="277063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2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9CFFEC03-DA48-1A02-4639-272007BDA5E1}"/>
              </a:ext>
            </a:extLst>
          </p:cNvPr>
          <p:cNvSpPr/>
          <p:nvPr/>
        </p:nvSpPr>
        <p:spPr>
          <a:xfrm>
            <a:off x="6364224" y="3255264"/>
            <a:ext cx="22677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anything; answers are grounded in your agreement and the RBI knowledge base, with sources.</a:t>
            </a:r>
            <a:endParaRPr lang="en-US" sz="930" dirty="0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2C3B3761-AF62-10D5-7B57-47DFE63EAF39}"/>
              </a:ext>
            </a:extLst>
          </p:cNvPr>
          <p:cNvSpPr/>
          <p:nvPr/>
        </p:nvSpPr>
        <p:spPr>
          <a:xfrm>
            <a:off x="8997696" y="2084832"/>
            <a:ext cx="2633472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63500" dist="25400" dir="5400000" algn="bl" rotWithShape="0">
              <a:srgbClr val="1B3A3F">
                <a:alpha val="9000"/>
              </a:srgbClr>
            </a:outerShdw>
          </a:effectLst>
        </p:spPr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E41A9A22-6E94-F760-04DA-7F7E0CF31400}"/>
              </a:ext>
            </a:extLst>
          </p:cNvPr>
          <p:cNvSpPr/>
          <p:nvPr/>
        </p:nvSpPr>
        <p:spPr>
          <a:xfrm>
            <a:off x="9180576" y="226771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38AFDDE8-CF06-5196-8D57-7FF7E9D06394}"/>
              </a:ext>
            </a:extLst>
          </p:cNvPr>
          <p:cNvSpPr/>
          <p:nvPr/>
        </p:nvSpPr>
        <p:spPr>
          <a:xfrm>
            <a:off x="9180576" y="2267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144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39C850AA-8B0E-44C6-ED40-C613BB3D98D7}"/>
              </a:ext>
            </a:extLst>
          </p:cNvPr>
          <p:cNvSpPr/>
          <p:nvPr/>
        </p:nvSpPr>
        <p:spPr>
          <a:xfrm>
            <a:off x="9180576" y="277063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Loans</a:t>
            </a:r>
            <a:endParaRPr lang="en-US" sz="120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99B51C45-99F5-1C9F-B28D-2AE789E4C5BB}"/>
              </a:ext>
            </a:extLst>
          </p:cNvPr>
          <p:cNvSpPr/>
          <p:nvPr/>
        </p:nvSpPr>
        <p:spPr>
          <a:xfrm>
            <a:off x="9180576" y="3255264"/>
            <a:ext cx="22677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agreements side by side, with an AI verdict on which is actually cheaper overall.</a:t>
            </a:r>
            <a:endParaRPr lang="en-US" sz="930" dirty="0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E513C8F6-FCCF-58EE-FC8F-CDF4C5EB07C4}"/>
              </a:ext>
            </a:extLst>
          </p:cNvPr>
          <p:cNvSpPr/>
          <p:nvPr/>
        </p:nvSpPr>
        <p:spPr>
          <a:xfrm>
            <a:off x="548640" y="4187952"/>
            <a:ext cx="2633472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63500" dist="25400" dir="5400000" algn="bl" rotWithShape="0">
              <a:srgbClr val="1B3A3F">
                <a:alpha val="9000"/>
              </a:srgbClr>
            </a:outerShdw>
          </a:effectLst>
        </p:spPr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D7BDAEEE-E57F-CA12-E4C4-9FA0D481AD32}"/>
              </a:ext>
            </a:extLst>
          </p:cNvPr>
          <p:cNvSpPr/>
          <p:nvPr/>
        </p:nvSpPr>
        <p:spPr>
          <a:xfrm>
            <a:off x="731520" y="437083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3327D1D7-D23D-3072-133C-9DA2041AB600}"/>
              </a:ext>
            </a:extLst>
          </p:cNvPr>
          <p:cNvSpPr/>
          <p:nvPr/>
        </p:nvSpPr>
        <p:spPr>
          <a:xfrm>
            <a:off x="731520" y="4370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1144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9406648F-35E6-B799-EFF1-CDFC03F1EF98}"/>
              </a:ext>
            </a:extLst>
          </p:cNvPr>
          <p:cNvSpPr/>
          <p:nvPr/>
        </p:nvSpPr>
        <p:spPr>
          <a:xfrm>
            <a:off x="731520" y="487375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Cost of Loan</a:t>
            </a:r>
            <a:endParaRPr lang="en-US" sz="1200" dirty="0"/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8E42C662-DE5C-414A-3A4C-032A598E22D6}"/>
              </a:ext>
            </a:extLst>
          </p:cNvPr>
          <p:cNvSpPr/>
          <p:nvPr/>
        </p:nvSpPr>
        <p:spPr>
          <a:xfrm>
            <a:off x="731520" y="5358384"/>
            <a:ext cx="22677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all-in cost beyond the principal — interest, fees, insurance, add-ons combined.</a:t>
            </a:r>
            <a:endParaRPr lang="en-US" sz="930" dirty="0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59D57D98-1B2E-7347-FEC1-42EB6D147166}"/>
              </a:ext>
            </a:extLst>
          </p:cNvPr>
          <p:cNvSpPr/>
          <p:nvPr/>
        </p:nvSpPr>
        <p:spPr>
          <a:xfrm>
            <a:off x="3364992" y="4187952"/>
            <a:ext cx="2633472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63500" dist="25400" dir="5400000" algn="bl" rotWithShape="0">
              <a:srgbClr val="1B3A3F">
                <a:alpha val="9000"/>
              </a:srgbClr>
            </a:outerShdw>
          </a:effectLst>
        </p:spPr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A8AB205C-3632-DF1C-1CD8-EF9DA08B3828}"/>
              </a:ext>
            </a:extLst>
          </p:cNvPr>
          <p:cNvSpPr/>
          <p:nvPr/>
        </p:nvSpPr>
        <p:spPr>
          <a:xfrm>
            <a:off x="3547872" y="4370832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2E296A9D-336B-6709-6C27-E56E63F7FDAF}"/>
              </a:ext>
            </a:extLst>
          </p:cNvPr>
          <p:cNvSpPr/>
          <p:nvPr/>
        </p:nvSpPr>
        <p:spPr>
          <a:xfrm>
            <a:off x="3547872" y="4370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144" dirty="0"/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58B569EC-3D3C-2011-69D5-E6A39998B59A}"/>
              </a:ext>
            </a:extLst>
          </p:cNvPr>
          <p:cNvSpPr/>
          <p:nvPr/>
        </p:nvSpPr>
        <p:spPr>
          <a:xfrm>
            <a:off x="3547872" y="487375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I Pay Early</a:t>
            </a:r>
            <a:endParaRPr lang="en-US" sz="1200" dirty="0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B41987CE-C34D-B9CE-5D2C-3C1051CFD8C9}"/>
              </a:ext>
            </a:extLst>
          </p:cNvPr>
          <p:cNvSpPr/>
          <p:nvPr/>
        </p:nvSpPr>
        <p:spPr>
          <a:xfrm>
            <a:off x="3547872" y="5358384"/>
            <a:ext cx="22677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a prepayment: interest saved, prepayment charge, and net benefit — instantly.</a:t>
            </a:r>
            <a:endParaRPr lang="en-US" sz="930" dirty="0"/>
          </a:p>
        </p:txBody>
      </p:sp>
      <p:sp>
        <p:nvSpPr>
          <p:cNvPr id="69" name="Shape 33">
            <a:extLst>
              <a:ext uri="{FF2B5EF4-FFF2-40B4-BE49-F238E27FC236}">
                <a16:creationId xmlns:a16="http://schemas.microsoft.com/office/drawing/2014/main" id="{6B9B976E-20EC-DC71-5B6B-7BD6D11403EF}"/>
              </a:ext>
            </a:extLst>
          </p:cNvPr>
          <p:cNvSpPr/>
          <p:nvPr/>
        </p:nvSpPr>
        <p:spPr>
          <a:xfrm>
            <a:off x="6181344" y="4187952"/>
            <a:ext cx="2633472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63500" dist="25400" dir="5400000" algn="bl" rotWithShape="0">
              <a:srgbClr val="1B3A3F">
                <a:alpha val="9000"/>
              </a:srgbClr>
            </a:outerShdw>
          </a:effectLst>
        </p:spPr>
      </p:sp>
      <p:sp>
        <p:nvSpPr>
          <p:cNvPr id="71" name="Shape 34">
            <a:extLst>
              <a:ext uri="{FF2B5EF4-FFF2-40B4-BE49-F238E27FC236}">
                <a16:creationId xmlns:a16="http://schemas.microsoft.com/office/drawing/2014/main" id="{A747D7CD-EE3B-0AD3-C0D7-91102C0AABC2}"/>
              </a:ext>
            </a:extLst>
          </p:cNvPr>
          <p:cNvSpPr/>
          <p:nvPr/>
        </p:nvSpPr>
        <p:spPr>
          <a:xfrm>
            <a:off x="6364224" y="437083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DDBDAF43-DC9A-64D0-6C97-57CB263B74BF}"/>
              </a:ext>
            </a:extLst>
          </p:cNvPr>
          <p:cNvSpPr/>
          <p:nvPr/>
        </p:nvSpPr>
        <p:spPr>
          <a:xfrm>
            <a:off x="6364224" y="4370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144" dirty="0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F18527C7-F1E6-6FF7-BA25-05300CFE947B}"/>
              </a:ext>
            </a:extLst>
          </p:cNvPr>
          <p:cNvSpPr/>
          <p:nvPr/>
        </p:nvSpPr>
        <p:spPr>
          <a:xfrm>
            <a:off x="6364224" y="487375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Withdrawn-Rule Awareness</a:t>
            </a:r>
            <a:endParaRPr lang="en-US" sz="1200" dirty="0"/>
          </a:p>
        </p:txBody>
      </p:sp>
      <p:sp>
        <p:nvSpPr>
          <p:cNvPr id="77" name="Text 37">
            <a:extLst>
              <a:ext uri="{FF2B5EF4-FFF2-40B4-BE49-F238E27FC236}">
                <a16:creationId xmlns:a16="http://schemas.microsoft.com/office/drawing/2014/main" id="{56C5BC29-0E46-E9A9-761A-EE875084417C}"/>
              </a:ext>
            </a:extLst>
          </p:cNvPr>
          <p:cNvSpPr/>
          <p:nvPr/>
        </p:nvSpPr>
        <p:spPr>
          <a:xfrm>
            <a:off x="6364224" y="5358384"/>
            <a:ext cx="22677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cited RBI circular is withdrawn or superseded, the assistant says so explicitly.</a:t>
            </a:r>
            <a:endParaRPr lang="en-US" sz="930" dirty="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E2C07072-09BF-C55D-66A3-92BEA7345598}"/>
              </a:ext>
            </a:extLst>
          </p:cNvPr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58C2596D-AB06-2421-43BD-02104CA492CC}"/>
              </a:ext>
            </a:extLst>
          </p:cNvPr>
          <p:cNvSpPr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77CC44F-A6E0-9E5C-DA88-5E0745DB7D03}"/>
              </a:ext>
            </a:extLst>
          </p:cNvPr>
          <p:cNvSpPr txBox="1"/>
          <p:nvPr/>
        </p:nvSpPr>
        <p:spPr>
          <a:xfrm>
            <a:off x="10480431" y="69534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762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6706D9-FABA-2951-D095-1938AE8ABB1D}"/>
              </a:ext>
            </a:extLst>
          </p:cNvPr>
          <p:cNvSpPr txBox="1"/>
          <p:nvPr/>
        </p:nvSpPr>
        <p:spPr>
          <a:xfrm>
            <a:off x="3048000" y="3046738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497303-B86F-54FA-0EB5-0D5244C6CF58}"/>
              </a:ext>
            </a:extLst>
          </p:cNvPr>
          <p:cNvSpPr txBox="1"/>
          <p:nvPr/>
        </p:nvSpPr>
        <p:spPr>
          <a:xfrm>
            <a:off x="2321767" y="653143"/>
            <a:ext cx="754846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                                                            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4CB09E-D745-C2DA-53A0-55DEF779E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9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684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•  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B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Technologies planned to be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81965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A896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1560" y="1728216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&amp; Backend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489204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— REST + SSE streaming endpoints</a:t>
            </a:r>
            <a:endParaRPr lang="en-US" sz="1200" dirty="0"/>
          </a:p>
          <a:p>
            <a:pPr marL="152400" indent="-152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Uvicorn — ASGI server</a:t>
            </a:r>
            <a:endParaRPr lang="en-US" sz="1200" dirty="0"/>
          </a:p>
          <a:p>
            <a:pPr marL="152400" indent="-152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Alembic — versioned DB migrations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519672" y="181965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A896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766560" y="1728216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&amp; Storage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221992"/>
            <a:ext cx="489204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— documents, profiles, risk flags, comparisons</a:t>
            </a:r>
            <a:endParaRPr lang="en-US" sz="1200" dirty="0"/>
          </a:p>
          <a:p>
            <a:pPr marL="152400" indent="-152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ChromaDB — vector store (per-user + shared RBI collection)</a:t>
            </a:r>
            <a:endParaRPr lang="en-US" sz="1200" dirty="0"/>
          </a:p>
          <a:p>
            <a:pPr marL="152400" indent="-152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SQLAlchemy (String columns only, no Enum types)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04672" y="424281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A896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51560" y="4151376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/ RAG Layer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645152"/>
            <a:ext cx="489204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embedding model — on-device, no external calls</a:t>
            </a:r>
            <a:endParaRPr lang="en-US" sz="1200" dirty="0"/>
          </a:p>
          <a:p>
            <a:pPr marL="152400" indent="-152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LLM API — fast inference for comparison &amp; reasoning</a:t>
            </a:r>
            <a:endParaRPr lang="en-US" sz="1200" dirty="0"/>
          </a:p>
          <a:p>
            <a:pPr marL="152400" indent="-152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Dual retrieval + independent reranking pipeline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40233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519672" y="424281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0A896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66560" y="4151376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 Parsing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4645152"/>
            <a:ext cx="489204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pdfplumber — PDF loan agreements &amp; RBI circulars</a:t>
            </a:r>
            <a:endParaRPr lang="en-US" sz="1200" dirty="0"/>
          </a:p>
          <a:p>
            <a:pPr marL="152400" indent="-152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python-docx — Word agreement uploads</a:t>
            </a:r>
            <a:endParaRPr lang="en-US" sz="1200" dirty="0"/>
          </a:p>
          <a:p>
            <a:pPr marL="152400" indent="-152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B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Plain-text ingestion for RBI .txt circulars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8">
            <a:extLst>
              <a:ext uri="{FF2B5EF4-FFF2-40B4-BE49-F238E27FC236}">
                <a16:creationId xmlns:a16="http://schemas.microsoft.com/office/drawing/2014/main" id="{E5A2740D-AB55-8446-A259-C671FF4B7C1D}"/>
              </a:ext>
            </a:extLst>
          </p:cNvPr>
          <p:cNvSpPr/>
          <p:nvPr/>
        </p:nvSpPr>
        <p:spPr>
          <a:xfrm>
            <a:off x="7726680" y="5462524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7F9FB"/>
          </a:solidFill>
          <a:ln w="12700">
            <a:solidFill>
              <a:srgbClr val="1B4750"/>
            </a:solidFill>
            <a:prstDash val="solid"/>
          </a:ln>
        </p:spPr>
        <p:txBody>
          <a:bodyPr/>
          <a:lstStyle/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8">
            <a:extLst>
              <a:ext uri="{FF2B5EF4-FFF2-40B4-BE49-F238E27FC236}">
                <a16:creationId xmlns:a16="http://schemas.microsoft.com/office/drawing/2014/main" id="{99E18773-30B4-ACB7-DCEB-104FAE3C8253}"/>
              </a:ext>
            </a:extLst>
          </p:cNvPr>
          <p:cNvSpPr/>
          <p:nvPr/>
        </p:nvSpPr>
        <p:spPr>
          <a:xfrm>
            <a:off x="7711440" y="4279392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7F9FB"/>
          </a:solidFill>
          <a:ln w="12700">
            <a:solidFill>
              <a:srgbClr val="1B4750"/>
            </a:solidFill>
            <a:prstDash val="solid"/>
          </a:ln>
        </p:spPr>
        <p:txBody>
          <a:bodyPr/>
          <a:lstStyle/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57DBBBDD-B3B5-DED2-6991-05E29078552C}"/>
              </a:ext>
            </a:extLst>
          </p:cNvPr>
          <p:cNvSpPr/>
          <p:nvPr/>
        </p:nvSpPr>
        <p:spPr>
          <a:xfrm>
            <a:off x="7726680" y="3136392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7F9FB"/>
          </a:solidFill>
          <a:ln w="12700">
            <a:solidFill>
              <a:srgbClr val="1B4750"/>
            </a:solidFill>
            <a:prstDash val="solid"/>
          </a:ln>
        </p:spPr>
        <p:txBody>
          <a:bodyPr/>
          <a:lstStyle/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03980E2-1602-CCAC-16D0-EB43EC5D4063}"/>
              </a:ext>
            </a:extLst>
          </p:cNvPr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05  •  CORE ALGORITHM</a:t>
            </a:r>
            <a:endParaRPr lang="en-US" sz="1200" dirty="0">
              <a:solidFill>
                <a:srgbClr val="02C39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295997A-2448-BB28-07E3-1011BFE8A55F}"/>
              </a:ext>
            </a:extLst>
          </p:cNvPr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Cambria" panose="02040503050406030204" pitchFamily="34" charset="-122"/>
                <a:cs typeface="Times New Roman" panose="02020603050405020304" pitchFamily="18" charset="0"/>
              </a:rPr>
              <a:t>Dual-retrieval comparison algorithm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46AF1C2-6D37-41DA-EF76-7DEF599B82B9}"/>
              </a:ext>
            </a:extLst>
          </p:cNvPr>
          <p:cNvSpPr/>
          <p:nvPr/>
        </p:nvSpPr>
        <p:spPr>
          <a:xfrm>
            <a:off x="548640" y="1508760"/>
            <a:ext cx="6903720" cy="4892040"/>
          </a:xfrm>
          <a:prstGeom prst="roundRect">
            <a:avLst>
              <a:gd name="adj" fmla="val 1869"/>
            </a:avLst>
          </a:prstGeom>
          <a:solidFill>
            <a:srgbClr val="F7F9FB"/>
          </a:solidFill>
          <a:ln w="12700">
            <a:solidFill>
              <a:srgbClr val="1B475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E743ADDD-8BDF-56BB-C046-65528CE661BB}"/>
              </a:ext>
            </a:extLst>
          </p:cNvPr>
          <p:cNvSpPr/>
          <p:nvPr/>
        </p:nvSpPr>
        <p:spPr>
          <a:xfrm>
            <a:off x="777240" y="1691640"/>
            <a:ext cx="128016" cy="128016"/>
          </a:xfrm>
          <a:prstGeom prst="ellipse">
            <a:avLst/>
          </a:prstGeom>
          <a:solidFill>
            <a:srgbClr val="F96167"/>
          </a:solidFill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11784CA7-D7B0-E1C5-CD3C-CD49D91B2E9B}"/>
              </a:ext>
            </a:extLst>
          </p:cNvPr>
          <p:cNvSpPr/>
          <p:nvPr/>
        </p:nvSpPr>
        <p:spPr>
          <a:xfrm>
            <a:off x="987552" y="1691640"/>
            <a:ext cx="128016" cy="128016"/>
          </a:xfrm>
          <a:prstGeom prst="ellipse">
            <a:avLst/>
          </a:prstGeom>
          <a:solidFill>
            <a:srgbClr val="F9E795"/>
          </a:solidFill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FD0E89AA-86D6-505D-9A16-EA7C4480D735}"/>
              </a:ext>
            </a:extLst>
          </p:cNvPr>
          <p:cNvSpPr/>
          <p:nvPr/>
        </p:nvSpPr>
        <p:spPr>
          <a:xfrm>
            <a:off x="1197864" y="1691640"/>
            <a:ext cx="128016" cy="128016"/>
          </a:xfrm>
          <a:prstGeom prst="ellipse">
            <a:avLst/>
          </a:prstGeom>
          <a:solidFill>
            <a:srgbClr val="02C39A"/>
          </a:solidFill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9C1A16F4-FC3D-F49A-F617-5F751CA4EC9E}"/>
              </a:ext>
            </a:extLst>
          </p:cNvPr>
          <p:cNvSpPr/>
          <p:nvPr/>
        </p:nvSpPr>
        <p:spPr>
          <a:xfrm>
            <a:off x="716280" y="1965960"/>
            <a:ext cx="6400800" cy="4343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lnSpc>
                <a:spcPts val="14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retrieve_agreement_and_rbi_context(</a:t>
            </a:r>
          </a:p>
          <a:p>
            <a:pPr>
              <a:lnSpc>
                <a:spcPts val="14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session_id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agreement_label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str,</a:t>
            </a:r>
          </a:p>
          <a:p>
            <a:pPr>
              <a:lnSpc>
                <a:spcPts val="14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query: str,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top_k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 = 5):</a:t>
            </a:r>
          </a:p>
          <a:p>
            <a:pPr>
              <a:lnSpc>
                <a:spcPts val="14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>
              <a:lnSpc>
                <a:spcPts val="1400"/>
              </a:lnSpc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query_embedding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embed_query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(query)</a:t>
            </a:r>
          </a:p>
          <a:p>
            <a:pPr>
              <a:lnSpc>
                <a:spcPts val="14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raw =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dual_retrieve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>
              <a:lnSpc>
                <a:spcPts val="14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session_id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agreement_label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ts val="14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query_embedding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n_results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=20)</a:t>
            </a:r>
          </a:p>
          <a:p>
            <a:pPr>
              <a:lnSpc>
                <a:spcPts val="1400"/>
              </a:lnSpc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agreement_top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</a:p>
          <a:p>
            <a:pPr>
              <a:lnSpc>
                <a:spcPts val="14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rerank_chunks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(query, raw["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agreement_chunks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top_k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top_k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raw["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agreement_chunks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 else [])</a:t>
            </a:r>
          </a:p>
          <a:p>
            <a:pPr>
              <a:lnSpc>
                <a:spcPts val="1400"/>
              </a:lnSpc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rbi_top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</a:p>
          <a:p>
            <a:pPr>
              <a:lnSpc>
                <a:spcPts val="14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rerank_chunks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(query, raw["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rbi_chunks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top_k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top_k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raw["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rbi_chunks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 else [])</a:t>
            </a:r>
          </a:p>
          <a:p>
            <a:pPr>
              <a:lnSpc>
                <a:spcPts val="1400"/>
              </a:lnSpc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agreement_top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normalize_scores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agreement_top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if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agreement_top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else []</a:t>
            </a:r>
          </a:p>
          <a:p>
            <a:pPr>
              <a:lnSpc>
                <a:spcPts val="14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rbi_top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normalize_scores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rbi_top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if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rbi_top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else []</a:t>
            </a:r>
          </a:p>
          <a:p>
            <a:pPr>
              <a:lnSpc>
                <a:spcPts val="1400"/>
              </a:lnSpc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{</a:t>
            </a:r>
          </a:p>
          <a:p>
            <a:pPr>
              <a:lnSpc>
                <a:spcPts val="14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agreement_chunks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agreement_top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ts val="14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rbi_chunks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rbi_top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80324753-E6C6-A384-34E5-579B9166096F}"/>
              </a:ext>
            </a:extLst>
          </p:cNvPr>
          <p:cNvSpPr/>
          <p:nvPr/>
        </p:nvSpPr>
        <p:spPr>
          <a:xfrm>
            <a:off x="7991256" y="1375647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Why dual retrieval?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B532A089-3FB1-71BF-729D-E020AAC4BD00}"/>
              </a:ext>
            </a:extLst>
          </p:cNvPr>
          <p:cNvSpPr/>
          <p:nvPr/>
        </p:nvSpPr>
        <p:spPr>
          <a:xfrm>
            <a:off x="7726680" y="196596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7F9FB"/>
          </a:solidFill>
          <a:ln w="12700">
            <a:solidFill>
              <a:srgbClr val="1B4750"/>
            </a:solidFill>
            <a:prstDash val="solid"/>
          </a:ln>
        </p:spPr>
        <p:txBody>
          <a:bodyPr/>
          <a:lstStyle/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2492B5A9-D4FF-30BE-4D58-A151676B5948}"/>
              </a:ext>
            </a:extLst>
          </p:cNvPr>
          <p:cNvSpPr/>
          <p:nvPr/>
        </p:nvSpPr>
        <p:spPr>
          <a:xfrm>
            <a:off x="7909560" y="2057400"/>
            <a:ext cx="35661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Searching both collections in one pass keeps the agreement clause and the matching RBI rule from the same query moment — no stale context.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F8A820AC-3EA7-2B3C-B1F8-F1994B73B855}"/>
              </a:ext>
            </a:extLst>
          </p:cNvPr>
          <p:cNvSpPr/>
          <p:nvPr/>
        </p:nvSpPr>
        <p:spPr>
          <a:xfrm>
            <a:off x="7909560" y="3227832"/>
            <a:ext cx="35661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Independent reranking means a strong RBI match doesn't get pushed out by a stronger (but irrelevant) agreement match, or vice versa.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C28B8991-507D-F73F-3CBD-4DCF101BEB6A}"/>
              </a:ext>
            </a:extLst>
          </p:cNvPr>
          <p:cNvSpPr/>
          <p:nvPr/>
        </p:nvSpPr>
        <p:spPr>
          <a:xfrm>
            <a:off x="7909560" y="4398264"/>
            <a:ext cx="35661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lnSpc>
                <a:spcPts val="135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score normalization keeps the agreement and RBI result sets independently calibrated before they are passed to the next stage.</a:t>
            </a:r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253D972C-4BCB-BD3B-12CB-D5662A6E620A}"/>
              </a:ext>
            </a:extLst>
          </p:cNvPr>
          <p:cNvSpPr/>
          <p:nvPr/>
        </p:nvSpPr>
        <p:spPr>
          <a:xfrm>
            <a:off x="7909560" y="5568696"/>
            <a:ext cx="35661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lnSpc>
                <a:spcPts val="135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result sets are returned separately, so downstream prompt construction can preserve the distinction between agreement-specific context and RBI regulatory context.</a:t>
            </a: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EBB3B7F5-0E0F-3FF5-CC4F-857090C61CC3}"/>
              </a:ext>
            </a:extLst>
          </p:cNvPr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983543C9-989D-D274-519F-3763AAE1F889}"/>
              </a:ext>
            </a:extLst>
          </p:cNvPr>
          <p:cNvSpPr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AD5676-473D-7A2F-97A2-017EB6287F16}"/>
              </a:ext>
            </a:extLst>
          </p:cNvPr>
          <p:cNvSpPr txBox="1"/>
          <p:nvPr/>
        </p:nvSpPr>
        <p:spPr>
          <a:xfrm flipH="1" flipV="1">
            <a:off x="7949636" y="2213122"/>
            <a:ext cx="3566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447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06  •  OPEN ITEMS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B33"/>
                </a:solidFill>
                <a:latin typeface="Times New Roman" panose="02020603050405020304" pitchFamily="18" charset="0"/>
                <a:ea typeface="Cambria" panose="02040503050406030204" pitchFamily="34" charset="-122"/>
                <a:cs typeface="Times New Roman" panose="02020603050405020304" pitchFamily="18" charset="0"/>
              </a:rPr>
              <a:t>Assumptions, challenges &amp; open queries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Assumptions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04672" y="2359152"/>
            <a:ext cx="3054096" cy="3840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0B2B33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Users upload genuine, unedited loan agreements in PDF, DOCX, or TXT.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0B2B33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session_id alone is sufficient identity for this prototype (no login yet).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0B2B33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Locally embedded vectors are adequate for clause-level semantic matching.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33672" y="155448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233672" y="155448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Challenges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33672" y="214884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89704" y="2359152"/>
            <a:ext cx="3054096" cy="3840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0B2B33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RBI's Oct-2025 consolidation folded ~9,000 circulars into 238 new Master Directions — our seeded status tags need re-verification.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0B2B33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Correctly reconciling a withdrawn source with an active one in the same answer, without confusing the user.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Keeping the RBI knowledge base current as circulars are added, amended, or withdrawn over time.</a:t>
            </a:r>
            <a:endParaRPr lang="en-US" sz="115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18704" y="155448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918704" y="155448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Open Queries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18704" y="214884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76200" dist="25400" dir="5400000" algn="bl" rotWithShape="0">
              <a:srgbClr val="1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174736" y="2359152"/>
            <a:ext cx="3054096" cy="3840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lnSpc>
                <a:spcPts val="1700"/>
              </a:lnSpc>
              <a:spcAft>
                <a:spcPts val="1200"/>
              </a:spcAft>
              <a:buSzPct val="100000"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RBI Circular Validity: How should superseded or partially applicable RBI circulars be handled?</a:t>
            </a:r>
          </a:p>
          <a:p>
            <a:pPr>
              <a:lnSpc>
                <a:spcPts val="1700"/>
              </a:lnSpc>
              <a:spcAft>
                <a:spcPts val="1200"/>
              </a:spcAft>
              <a:buSzPct val="100000"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Thresholds: Should LOW/MED/HIGH risk criteria vary by loan type?</a:t>
            </a:r>
          </a:p>
          <a:p>
            <a:pPr>
              <a:lnSpc>
                <a:spcPts val="1700"/>
              </a:lnSpc>
              <a:spcAft>
                <a:spcPts val="1200"/>
              </a:spcAft>
              <a:buSzPct val="100000"/>
            </a:pPr>
            <a:r>
              <a:rPr lang="en-US" sz="11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What secure authentication model is appropriate beyond the prototype?</a:t>
            </a:r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7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7580F3-8BD5-B8A1-570C-31C9898BBB25}"/>
              </a:ext>
            </a:extLst>
          </p:cNvPr>
          <p:cNvSpPr txBox="1"/>
          <p:nvPr/>
        </p:nvSpPr>
        <p:spPr>
          <a:xfrm>
            <a:off x="3048000" y="3046738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206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772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2659</TotalTime>
  <Words>907</Words>
  <Application>Microsoft Office PowerPoint</Application>
  <PresentationFormat>Widescreen</PresentationFormat>
  <Paragraphs>115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Krinna Anandpara</cp:lastModifiedBy>
  <cp:revision>8</cp:revision>
  <dcterms:created xsi:type="dcterms:W3CDTF">2026-08-20T12:02:00Z</dcterms:created>
  <dcterms:modified xsi:type="dcterms:W3CDTF">2026-08-25T06:58:18Z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A7ABC2F545AB44CFA5F5E767D7D7E020_12</vt:lpwstr>
  </property>
</Properties>
</file>